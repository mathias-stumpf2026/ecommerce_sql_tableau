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q0bxj7h0IOvs1eAhH2W/B5RjW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Hallo zusammen, willkommen zu unserem kurzen Pitsch von Stephan, Tolga, Ihor und mir.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 haben die Magist-Datenbank ausgewertet und haben diese kombinier</a:t>
            </a:r>
            <a:r>
              <a:rPr lang="en-US" sz="1200">
                <a:solidFill>
                  <a:schemeClr val="dk1"/>
                </a:solidFill>
              </a:rPr>
              <a:t>t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mit externen Marktfaktoren ,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eine contra Empfehlung für das Management zu begründen.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Diese Analysepunkte gehen wir nun in den folgenden Folien durch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Die Auswertung Magist Tabelle hat folgendes ergeben.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 =&gt;W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 regional begrenzt ist, kann kein nationales Premiumlabel aufbauen.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 sieht hier sehr eindeutig     ,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62 % des Umsatzes entfä</a:t>
            </a:r>
            <a:r>
              <a:rPr lang="en-US" sz="1200">
                <a:solidFill>
                  <a:schemeClr val="dk1"/>
                </a:solidFill>
              </a:rPr>
              <a:t>llt auf die Küstenregion.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SP ist hierbei die Umsatzstärkste Region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 Preisabstand der W</a:t>
            </a:r>
            <a:r>
              <a:rPr lang="en-US" sz="1200">
                <a:solidFill>
                  <a:schemeClr val="dk1"/>
                </a:solidFill>
              </a:rPr>
              <a:t>erte zeigt ein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Marktplatz-Mismatch.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Magist ist nicht designed für Premiumkunden.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Der Durchschnittliche Bestellwert zeigt, dass es nicht unserem Durchschnittlichen Einstiegspreis entspricht.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Magist Kunden erwarten eher keine Premiumprodukt also eher Massenware.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Zudem sind High-End Produkt für den Druchschnittsbürger durch die niedrige Gehaltsstruktur schwer bis nicht finanzierbar.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aee330c19_4_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g3eaee330c19_4_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Dies konnten wir auch durch die Datenbankanalyse zum Kaufverhalten aufzeigen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Der Fokus richtet sich eher auf günstige als auf teure Tech-</a:t>
            </a:r>
            <a:r>
              <a:rPr lang="en-US" sz="1200">
                <a:solidFill>
                  <a:schemeClr val="dk1"/>
                </a:solidFill>
              </a:rPr>
              <a:t>Produkte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1" name="Google Shape;81;g3eaee330c19_4_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 12,5 Tage Lieferzeit sind kein Einzelfall – das ist die durchschnittliche Lieferzeit aus der DB.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Amazon in Brasilien ist die Lieferzeit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eher 1-3 Tage.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 </a:t>
            </a:r>
            <a:r>
              <a:rPr lang="en-US" sz="1200">
                <a:solidFill>
                  <a:schemeClr val="dk1"/>
                </a:solidFill>
              </a:rPr>
              <a:t>nicht erkennbaren SLA´s führen zwangsläufig zu unzufriedenen Kunden.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Letztendlich</a:t>
            </a:r>
            <a:r>
              <a:rPr lang="en-US" sz="1200">
                <a:solidFill>
                  <a:schemeClr val="dk1"/>
                </a:solidFill>
              </a:rPr>
              <a:t> beeinträchtigt dies unseren NPS (Net Promotor Score) negativ.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Was </a:t>
            </a:r>
            <a:r>
              <a:rPr lang="en-US" sz="1200">
                <a:solidFill>
                  <a:schemeClr val="dk1"/>
                </a:solidFill>
              </a:rPr>
              <a:t>mit hoher wahrscheinlichkeit </a:t>
            </a:r>
            <a:r>
              <a:rPr lang="en-US" sz="1200">
                <a:solidFill>
                  <a:schemeClr val="dk1"/>
                </a:solidFill>
              </a:rPr>
              <a:t>dazu führen würde, das unser Unternehmen 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einen Reputationsverlust erleiden wird.</a:t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Benchmark Amazon: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Amazon-Vergleich ist </a:t>
            </a:r>
            <a:r>
              <a:rPr lang="en-US" sz="1200">
                <a:solidFill>
                  <a:schemeClr val="dk1"/>
                </a:solidFill>
              </a:rPr>
              <a:t>ein hoher Wettbewerbsunterschied erkennbar.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Apple Manaus </a:t>
            </a:r>
            <a:r>
              <a:rPr lang="en-US" sz="1200">
                <a:solidFill>
                  <a:schemeClr val="dk1"/>
                </a:solidFill>
              </a:rPr>
              <a:t>ist ein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struktureller Kostennachteil, der die Importmarge direkt betrifft.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Außerdem </a:t>
            </a:r>
            <a:r>
              <a:rPr lang="en-US" sz="1200">
                <a:solidFill>
                  <a:schemeClr val="dk1"/>
                </a:solidFill>
              </a:rPr>
              <a:t>haben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wir i</a:t>
            </a:r>
            <a:r>
              <a:rPr lang="en-US" sz="1200">
                <a:solidFill>
                  <a:schemeClr val="dk1"/>
                </a:solidFill>
              </a:rPr>
              <a:t>n der Liefergeschwindigkeit einen klaren Wettbewerbsnachteil.</a:t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Es ist ein sehr hohes Working Capital notwendig.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 Brasilien ist Ratenzahlung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kulturell fest verankert </a:t>
            </a:r>
            <a:r>
              <a:rPr lang="en-US" sz="1200">
                <a:solidFill>
                  <a:schemeClr val="dk1"/>
                </a:solidFill>
              </a:rPr>
              <a:t>und auch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nicht verhandelbar. Wer dort verkauft, muss vorfinanzieren.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Die Datenbankabfrage zeigt, dass die Ratenzahlung über viele Monate gestreckt wird,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was ein Volumen von mind. 2.3 Mio bedeutet. Hierzu kommen dann noch die Finanzierungskosten.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aee330c19_1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eaee330c19_1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Magist Boleto/ Ratenzahlung: Die Ratenzahlung hier nochmal in einer Graphik dargestellt.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Für die 2.3 Mio Ratenzahlung muss </a:t>
            </a:r>
            <a:r>
              <a:rPr lang="en-US" sz="1200">
                <a:solidFill>
                  <a:schemeClr val="dk1"/>
                </a:solidFill>
              </a:rPr>
              <a:t>effektiv</a:t>
            </a:r>
            <a:r>
              <a:rPr lang="en-US" sz="1200">
                <a:solidFill>
                  <a:schemeClr val="dk1"/>
                </a:solidFill>
              </a:rPr>
              <a:t> ein noch höheres Working-Capital aufgewendet werden.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7" name="Google Shape;147;g3eaee330c19_1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Diese drei </a:t>
            </a:r>
            <a:r>
              <a:rPr lang="en-US" sz="1200">
                <a:solidFill>
                  <a:schemeClr val="dk1"/>
                </a:solidFill>
              </a:rPr>
              <a:t>Risiken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kommen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 unserer extern</a:t>
            </a:r>
            <a:r>
              <a:rPr lang="en-US" sz="1200">
                <a:solidFill>
                  <a:schemeClr val="dk1"/>
                </a:solidFill>
              </a:rPr>
              <a:t>en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Recherche nicht aus der D</a:t>
            </a:r>
            <a:r>
              <a:rPr lang="en-US" sz="1200">
                <a:solidFill>
                  <a:schemeClr val="dk1"/>
                </a:solidFill>
              </a:rPr>
              <a:t>atenbank analyse.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E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vollständiges Risikobild geht über die uns vorliegenden Transaktionsdaten hinaus.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Diese Risiken erhöhen aber zusätzlich unser finanzielles Risiko.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Hohe Kriminalität hat direkte Auswirkungen auf hohe Versicherungskosten.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Hohe Zollkosten minimieren zusätzlich unsere Marge.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Die Folien haben wir hier in 7 Contra-Punkten zusammengefasst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Fazit unserer Datenbank- und eigenständigen Marktanalyse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 sind nicht grundsätzlich gegen Brasilien als Markt –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 sind gegen Magist als Verkaufs-Kanal für unser Premiumportfolio.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gibt sicherlich bessere Optionen.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Wir stufen den geplanten Markteintritt mit Magist als High Risk ein.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Unsere Empfehlung ist es alternative Distributionskanäle zu prüfen.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1" name="Google Shape;21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af9ef51f0_0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3eaf9ef51f0_0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Die Ratenzahlung hier nochmal in einer Graphik dargestellt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2" name="Google Shape;222;g3eaf9ef51f0_0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af9ef51f0_0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3eaf9ef51f0_0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Die Ratenzahlung hier nochmal in einer Graphik dargestellt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2" name="Google Shape;232;g3eaf9ef51f0_0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auswaertiges-amt.de/de/service/laender/brasilien-node/brasiliensicherheit-201092" TargetMode="External"/><Relationship Id="rId4" Type="http://schemas.openxmlformats.org/officeDocument/2006/relationships/hyperlink" Target="https://www.eda.admin.ch/countries/brazil/de/home/reisehinweise/vor-or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6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CADCFC">
              <a:alpha val="18039"/>
            </a:srgbClr>
          </a:solidFill>
          <a:ln cap="flat" cmpd="sng" w="12700">
            <a:solidFill>
              <a:srgbClr val="CADCFC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STRATEGISCHE RISIKOANALYSE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Magist Marketplace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251460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Warum Magist nicht die richtige Plattform für unser Premium-Portfolio ist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40" y="4389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Präsentation | WBS Data Science &amp; AI · 2026</a:t>
            </a:r>
            <a:endParaRPr i="1" sz="11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457200" y="960120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48640" y="987552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143000" y="987552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Marktstruktur &amp; Reichweite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0" y="987552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Umsatzkonzentration an der Küste – kein nationales Premium-Netz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1536192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563624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143000" y="1563624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Produktfit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0" y="1563624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Magist-Kundschaft kauft günstig – High-End ist strukturell fehl am Platz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2139696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43000" y="2139696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Lieferzeit &amp; Kundenzufriedenheit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0" y="2139696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12,5 Tage entsprechen brasilianischem Standard – nicht unserem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2688336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2715768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43000" y="2715768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Wettbewerb &amp; Marge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0" y="2715768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Amazon liefert schneller; Apple-Produktion vor Ort drückt Marge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3264408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3291840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43000" y="3291840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Operativer Aufwand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0" y="3291840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Hohe Ratenzahlungen binden Working Capital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3840480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3867912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43000" y="3867912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Externe Risiken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0" y="3867912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Kriminalität, Versicherung, Zoll – nicht in der DB sichtbar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4416552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4443984"/>
            <a:ext cx="457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43000" y="4443984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Fazit &amp; Empfehlung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Marktstruktur &amp; Reichweite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669280" y="914400"/>
            <a:ext cx="3108960" cy="1280160"/>
          </a:xfrm>
          <a:prstGeom prst="roundRect">
            <a:avLst>
              <a:gd fmla="val 7143" name="adj"/>
            </a:avLst>
          </a:prstGeom>
          <a:solidFill>
            <a:srgbClr val="C0392B">
              <a:alpha val="90196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760720" y="960120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62 % des Umsatzes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entfällt auf Küstenregionen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669280" y="2377440"/>
            <a:ext cx="31089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Char char="•"/>
            </a:pPr>
            <a:r>
              <a:rPr b="1"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São Paulo, Belo Horizonte &amp; Rio dominieren – Inland kaum erschlossen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Unsere Zielkunden im Premiumsegment sind nicht national verteilt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Magist bietet keine selektive Distributionsstrategie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Fehlende Marktabdeckung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50" y="960115"/>
            <a:ext cx="5048681" cy="4061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Produktfit – Preisniveau &amp; Käuferverhalten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57200" y="960120"/>
            <a:ext cx="3840480" cy="1554480"/>
          </a:xfrm>
          <a:prstGeom prst="roundRect">
            <a:avLst>
              <a:gd fmla="val 7059" name="adj"/>
            </a:avLst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8640" y="10058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∅ R€ 120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Durchschnittlicher Bestellwert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auf Magist (alle Kategorien)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754880" y="960120"/>
            <a:ext cx="3840480" cy="1554480"/>
          </a:xfrm>
          <a:prstGeom prst="roundRect">
            <a:avLst>
              <a:gd fmla="val 7059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846320" y="10058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 R€ 540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Typischer Einstiegspreis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unserer Tech-Produkte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2743200"/>
            <a:ext cx="8321040" cy="2057400"/>
          </a:xfrm>
          <a:prstGeom prst="roundRect">
            <a:avLst>
              <a:gd fmla="val 4444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40080" y="28346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Warum das ein strukturelles Problem ist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40080" y="3246120"/>
            <a:ext cx="7955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Magist-Käufer erwarten Massenware – kein Premium-Ökosystem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Zu teuer für den Durchschnittsbürger: Konversionsraten für High-End-Produkte marginal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Keine Käufersegmentierung möglich – alle Kundengruppen vermischt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aee330c19_4_11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eaee330c19_4_11"/>
          <p:cNvSpPr/>
          <p:nvPr/>
        </p:nvSpPr>
        <p:spPr>
          <a:xfrm>
            <a:off x="264050" y="0"/>
            <a:ext cx="8808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Produktfit – Preisniveau &amp; Käuferverhalten (Bestellanzahl Techn. Prod.)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eaee330c19_4_11"/>
          <p:cNvSpPr/>
          <p:nvPr/>
        </p:nvSpPr>
        <p:spPr>
          <a:xfrm>
            <a:off x="548640" y="1005840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t/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g3eaee330c19_4_11"/>
          <p:cNvGrpSpPr/>
          <p:nvPr/>
        </p:nvGrpSpPr>
        <p:grpSpPr>
          <a:xfrm>
            <a:off x="1429054" y="1750782"/>
            <a:ext cx="6489411" cy="3114921"/>
            <a:chOff x="-331595" y="1051136"/>
            <a:chExt cx="9208757" cy="4420209"/>
          </a:xfrm>
        </p:grpSpPr>
        <p:sp>
          <p:nvSpPr>
            <p:cNvPr id="87" name="Google Shape;87;g3eaee330c19_4_11"/>
            <p:cNvSpPr/>
            <p:nvPr/>
          </p:nvSpPr>
          <p:spPr>
            <a:xfrm>
              <a:off x="5587075" y="1161775"/>
              <a:ext cx="3253200" cy="2269200"/>
            </a:xfrm>
            <a:prstGeom prst="roundRect">
              <a:avLst>
                <a:gd fmla="val 7059" name="adj"/>
              </a:avLst>
            </a:prstGeom>
            <a:solidFill>
              <a:srgbClr val="C0392B"/>
            </a:solidFill>
            <a:ln cap="flat" cmpd="sng" w="8925">
              <a:solidFill>
                <a:srgbClr val="C039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75" lIns="64425" spcFirstLastPara="1" rIns="64425" wrap="square" tIns="32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g3eaee330c19_4_11"/>
            <p:cNvSpPr/>
            <p:nvPr/>
          </p:nvSpPr>
          <p:spPr>
            <a:xfrm>
              <a:off x="5645112" y="1051136"/>
              <a:ext cx="3210900" cy="20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96"/>
                <a:buFont typeface="Calibri"/>
                <a:buNone/>
              </a:pPr>
              <a:r>
                <a:rPr b="1" lang="en-US" sz="21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106,25€ </a:t>
              </a:r>
              <a:endParaRPr b="1" sz="21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96"/>
                <a:buFont typeface="Calibri"/>
                <a:buNone/>
              </a:pPr>
              <a:r>
                <a:rPr b="1" lang="en-US" sz="21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Durchschnittlicher Verkaufspreis </a:t>
              </a:r>
              <a:endParaRPr b="1" sz="21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96"/>
                <a:buFont typeface="Calibri"/>
                <a:buNone/>
              </a:pPr>
              <a:r>
                <a:rPr lang="en-US" sz="68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(Technischer Produkte)</a:t>
              </a:r>
              <a:r>
                <a:rPr lang="en-US" sz="105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0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g3eaee330c19_4_11"/>
            <p:cNvSpPr/>
            <p:nvPr/>
          </p:nvSpPr>
          <p:spPr>
            <a:xfrm>
              <a:off x="-331595" y="2834640"/>
              <a:ext cx="7955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C2B6E"/>
                </a:buClr>
                <a:buSzPts val="987"/>
                <a:buFont typeface="Calibri"/>
                <a:buNone/>
              </a:pPr>
              <a:r>
                <a:t/>
              </a:r>
              <a:endParaRPr sz="98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g3eaee330c19_4_11"/>
            <p:cNvSpPr txBox="1"/>
            <p:nvPr/>
          </p:nvSpPr>
          <p:spPr>
            <a:xfrm>
              <a:off x="5645125" y="3590950"/>
              <a:ext cx="3137100" cy="9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425" lIns="64425" spcFirstLastPara="1" rIns="64425" wrap="square" tIns="64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68">
                <a:solidFill>
                  <a:schemeClr val="lt1"/>
                </a:solidFill>
              </a:endParaRPr>
            </a:p>
          </p:txBody>
        </p:sp>
        <p:sp>
          <p:nvSpPr>
            <p:cNvPr id="91" name="Google Shape;91;g3eaee330c19_4_11"/>
            <p:cNvSpPr/>
            <p:nvPr/>
          </p:nvSpPr>
          <p:spPr>
            <a:xfrm>
              <a:off x="5623962" y="4130045"/>
              <a:ext cx="3253200" cy="1341300"/>
            </a:xfrm>
            <a:prstGeom prst="roundRect">
              <a:avLst>
                <a:gd fmla="val 7059" name="adj"/>
              </a:avLst>
            </a:prstGeom>
            <a:solidFill>
              <a:srgbClr val="C0392B"/>
            </a:solidFill>
            <a:ln cap="flat" cmpd="sng" w="8925">
              <a:solidFill>
                <a:srgbClr val="C039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2175" lIns="64425" spcFirstLastPara="1" rIns="64425" wrap="square" tIns="32175">
              <a:no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8">
                  <a:solidFill>
                    <a:schemeClr val="lt1"/>
                  </a:solidFill>
                </a:rPr>
                <a:t>Teuer (&gt; 106,25): 27,3%</a:t>
              </a:r>
              <a:endParaRPr b="1" sz="1409">
                <a:solidFill>
                  <a:schemeClr val="lt1"/>
                </a:solidFill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87">
                  <a:solidFill>
                    <a:schemeClr val="lt1"/>
                  </a:solidFill>
                </a:rPr>
                <a:t>vs</a:t>
              </a:r>
              <a:endParaRPr b="1" sz="987">
                <a:solidFill>
                  <a:schemeClr val="lt1"/>
                </a:solidFill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8">
                  <a:solidFill>
                    <a:schemeClr val="lt1"/>
                  </a:solidFill>
                </a:rPr>
                <a:t>Günstig </a:t>
              </a:r>
              <a:r>
                <a:rPr b="1" lang="en-US" sz="1268">
                  <a:solidFill>
                    <a:schemeClr val="lt1"/>
                  </a:solidFill>
                </a:rPr>
                <a:t>(&lt;= 106,25)</a:t>
              </a:r>
              <a:r>
                <a:rPr b="1" lang="en-US" sz="1268">
                  <a:solidFill>
                    <a:schemeClr val="lt1"/>
                  </a:solidFill>
                </a:rPr>
                <a:t>: 72,7%</a:t>
              </a:r>
              <a:endParaRPr sz="126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2" name="Google Shape;92;g3eaee330c19_4_11" title="Bildschirmfoto 2026-06-11 um 15.15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725" y="1005850"/>
            <a:ext cx="4405550" cy="40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Lieferzeit &amp; Kundenzufriedenheit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5"/>
          <p:cNvGrpSpPr/>
          <p:nvPr/>
        </p:nvGrpSpPr>
        <p:grpSpPr>
          <a:xfrm>
            <a:off x="5760720" y="1415975"/>
            <a:ext cx="2926080" cy="1129200"/>
            <a:chOff x="5760720" y="914400"/>
            <a:chExt cx="2926080" cy="1129200"/>
          </a:xfrm>
        </p:grpSpPr>
        <p:sp>
          <p:nvSpPr>
            <p:cNvPr id="101" name="Google Shape;101;p5"/>
            <p:cNvSpPr/>
            <p:nvPr/>
          </p:nvSpPr>
          <p:spPr>
            <a:xfrm>
              <a:off x="6040000" y="914400"/>
              <a:ext cx="2438700" cy="1129200"/>
            </a:xfrm>
            <a:prstGeom prst="roundRect">
              <a:avLst>
                <a:gd fmla="val 4762" name="adj"/>
              </a:avLst>
            </a:prstGeom>
            <a:solidFill>
              <a:srgbClr val="C0392B">
                <a:alpha val="90196"/>
              </a:srgbClr>
            </a:solidFill>
            <a:ln cap="flat" cmpd="sng" w="12700">
              <a:solidFill>
                <a:srgbClr val="C039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5760720" y="960120"/>
              <a:ext cx="292608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12,5 Tage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≠ Spanischer Standard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5"/>
          <p:cNvSpPr/>
          <p:nvPr/>
        </p:nvSpPr>
        <p:spPr>
          <a:xfrm>
            <a:off x="5669280" y="301752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Lieferzeit ok nach brasilianischem Maßstab – nicht nach europäischem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Unzufriedene Kunden → Reklamationen, Retouren, Reputationsverlust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Negative Bewertungen beeinträchtigen das gesamte Markenbild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Kein Service-Level-Agreement für Premium-Lieferung auf Magist erkennbar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83" y="777250"/>
            <a:ext cx="4012641" cy="436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Wettbewerb &amp; Margendruck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960120"/>
            <a:ext cx="8229600" cy="1828800"/>
          </a:xfrm>
          <a:prstGeom prst="roundRect">
            <a:avLst>
              <a:gd fmla="val 5000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1097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508760" y="109728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Amazon liefert schneller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508760" y="1554480"/>
            <a:ext cx="6949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Amazon Brasilien bietet Prime-Lieferung mit 1–2 Tagen. </a:t>
            </a:r>
            <a:endParaRPr sz="1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Für Premium-Tech ist Amazon die stärkere Plattform – besser ausgebaut, bekannter, schneller.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fmla="val 5000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306324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🍎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508760" y="306324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Apple-Lokalproduktion drückt Marge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508760" y="3520440"/>
            <a:ext cx="6949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Apple produziert ausgewählte Geräte in Brasilien (Manaus). </a:t>
            </a:r>
            <a:endParaRPr sz="1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Lokale Ware ist günstiger als importierte – </a:t>
            </a:r>
            <a:endParaRPr sz="1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unsere Importmarge schrumpft durch diesen Wettbewerbsvorteil der Konkurrenz.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4617720"/>
            <a:ext cx="8229600" cy="347472"/>
          </a:xfrm>
          <a:prstGeom prst="roundRect">
            <a:avLst>
              <a:gd fmla="val 13158" name="adj"/>
            </a:avLst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8640" y="461772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Ergebnis: Magist bietet keinen Wettbewerbsvorteil – weder bei Geschwindigkeit noch bei Preis.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Operativer Aufwand – Working Capital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Das brasilianische Ratenzahlungssystem (Parcelamento)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1508760"/>
            <a:ext cx="3840480" cy="1417320"/>
          </a:xfrm>
          <a:prstGeom prst="roundRect">
            <a:avLst>
              <a:gd fmla="val 6452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40080" y="16002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Ratenzahlungen üblich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40080" y="20574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Käufer zahlen in 6 bis 36 Monatsraten – </a:t>
            </a:r>
            <a:endParaRPr sz="1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Standard auf Magist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754880" y="1508760"/>
            <a:ext cx="3840480" cy="1417320"/>
          </a:xfrm>
          <a:prstGeom prst="roundRect">
            <a:avLst>
              <a:gd fmla="val 6452" name="adj"/>
            </a:avLst>
          </a:prstGeom>
          <a:solidFill>
            <a:srgbClr val="FEF3CD"/>
          </a:solidFill>
          <a:ln cap="flat" cmpd="sng" w="9525">
            <a:solidFill>
              <a:srgbClr val="F6C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937760" y="16002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Verzögerter Cash-Eingang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937760" y="20574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Liquidität wird über viele Monate gestreckt</a:t>
            </a:r>
            <a:endParaRPr sz="1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Laut Datenbank (2.3 M siehe Anhang)</a:t>
            </a:r>
            <a:endParaRPr sz="1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3108960"/>
            <a:ext cx="3840480" cy="1417320"/>
          </a:xfrm>
          <a:prstGeom prst="roundRect">
            <a:avLst>
              <a:gd fmla="val 6452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40080" y="32004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Hohes Working Capital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0080" y="36576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Vorfinanzierung nötig: Ware bereits geliefert, Geld noch nicht 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754880" y="3108960"/>
            <a:ext cx="3840480" cy="1417320"/>
          </a:xfrm>
          <a:prstGeom prst="roundRect">
            <a:avLst>
              <a:gd fmla="val 6452" name="adj"/>
            </a:avLst>
          </a:prstGeom>
          <a:solidFill>
            <a:srgbClr val="FEF3CD"/>
          </a:solidFill>
          <a:ln cap="flat" cmpd="sng" w="9525">
            <a:solidFill>
              <a:srgbClr val="F6C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937760" y="32004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Finanzierungskosten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937760" y="36576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Zinsen für Working Capital drücken die Nettomarge zusätzlich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4617720"/>
            <a:ext cx="8229600" cy="347472"/>
          </a:xfrm>
          <a:prstGeom prst="roundRect">
            <a:avLst>
              <a:gd fmla="val 13158" name="adj"/>
            </a:avLst>
          </a:prstGeom>
          <a:solidFill>
            <a:srgbClr val="C0392B">
              <a:alpha val="90196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461772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Höheres Working Capital = niedrigere Kapitaleffizienz = Renditeverlust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aee330c19_13_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aee330c19_13_0"/>
          <p:cNvSpPr/>
          <p:nvPr/>
        </p:nvSpPr>
        <p:spPr>
          <a:xfrm>
            <a:off x="457200" y="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zu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Operativer Aufwand – Working Capital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aee330c19_13_0"/>
          <p:cNvSpPr/>
          <p:nvPr/>
        </p:nvSpPr>
        <p:spPr>
          <a:xfrm>
            <a:off x="2635500" y="903450"/>
            <a:ext cx="43899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Summe Ratenzahlung total (boleto) pro Jahr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3eaee330c19_1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450" y="1322250"/>
            <a:ext cx="3355104" cy="362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 Externe Risiken – Über die Datenbank hinaus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Diese Risiken sind in der Magist-DB nicht abgebildet – aber real und quantifizierbar: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1417320"/>
            <a:ext cx="8229600" cy="1078992"/>
          </a:xfrm>
          <a:prstGeom prst="roundRect">
            <a:avLst>
              <a:gd fmla="val 8475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48640" y="1508760"/>
            <a:ext cx="731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🔓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417320" y="1508760"/>
            <a:ext cx="7040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Kriminalität &amp; Diebstahl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417320" y="1892808"/>
            <a:ext cx="7040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Brasilien hat eine der höchsten Frachtdiebstahlraten weltweit (Insbesondere Rio und SP =&gt; Zielgebiet). </a:t>
            </a:r>
            <a:endParaRPr sz="115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High-Tech-Produkte sind bevorzugte Ziele. Sicherheitskosten und Verluste sind erheblich.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57200" y="2587752"/>
            <a:ext cx="8229600" cy="1078992"/>
          </a:xfrm>
          <a:prstGeom prst="roundRect">
            <a:avLst>
              <a:gd fmla="val 8475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48640" y="2679192"/>
            <a:ext cx="731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417320" y="2679192"/>
            <a:ext cx="7040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Hohe Versicherungskosten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417320" y="3063240"/>
            <a:ext cx="7040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Aufgrund des Diebstahlrisikos sind Transportversicherungen für Tech-Produkte in Brasilien deutlich teurer </a:t>
            </a:r>
            <a:endParaRPr sz="115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als im EU-Durchschnitt. Direkte Kostenwirkung.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3758184"/>
            <a:ext cx="8229600" cy="1078992"/>
          </a:xfrm>
          <a:prstGeom prst="roundRect">
            <a:avLst>
              <a:gd fmla="val 8475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48640" y="3849624"/>
            <a:ext cx="731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🛃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417320" y="3849624"/>
            <a:ext cx="7040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6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2B6E"/>
                </a:solidFill>
                <a:latin typeface="Calibri"/>
                <a:ea typeface="Calibri"/>
                <a:cs typeface="Calibri"/>
                <a:sym typeface="Calibri"/>
              </a:rPr>
              <a:t>Hohe Zollkosten (Importsteuer)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417320" y="4233672"/>
            <a:ext cx="7040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Brasilien erhebt hohe Importzölle auf Elektronik (bis zu 60–80%). </a:t>
            </a:r>
            <a:endParaRPr sz="115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Der Zollaufwand reduziert die Wettbewerbsfähigkeit importierter Premiumprodukte massiv.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Zusammenfassung – 7 Gründe gegen Magist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57200" y="914400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8640" y="996696"/>
            <a:ext cx="329184" cy="329184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48640" y="99669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051560" y="960120"/>
            <a:ext cx="7406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Umsatz nur an der Küste – kein nationales Premiumnetz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1490472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48640" y="1572768"/>
            <a:ext cx="329184" cy="329184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48640" y="15727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51560" y="1536192"/>
            <a:ext cx="7406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Magist-Kunden kaufen günstig – High-End ist fehl am Platz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2066544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48640" y="2148840"/>
            <a:ext cx="329184" cy="329184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48640" y="21488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51560" y="2112264"/>
            <a:ext cx="7406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12,5 Tage Lieferzeit erfüllt europäische Erwartungen nicht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2642616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48640" y="2724912"/>
            <a:ext cx="329184" cy="329184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48640" y="27249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051560" y="2688336"/>
            <a:ext cx="7406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Amazon liefert schneller – struktureller Wettbewerbsnachteil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57200" y="3218688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48640" y="3300984"/>
            <a:ext cx="329184" cy="329184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48640" y="33009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051560" y="3264408"/>
            <a:ext cx="7406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Apple-Produktion ausgewählter Produkte vor Ort reduziert unsere Importmarge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57200" y="3794760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FFFFFF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48640" y="3877056"/>
            <a:ext cx="329184" cy="329184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48640" y="38770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051560" y="3840480"/>
            <a:ext cx="7406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Hohe Ratenzahlungen binden Working Capital &amp; Liquidität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4370832"/>
            <a:ext cx="8229600" cy="493776"/>
          </a:xfrm>
          <a:prstGeom prst="roundRect">
            <a:avLst>
              <a:gd fmla="val 9259" name="adj"/>
            </a:avLst>
          </a:prstGeom>
          <a:solidFill>
            <a:srgbClr val="EEF2FB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8640" y="4453128"/>
            <a:ext cx="329184" cy="329184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48640" y="44531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051560" y="4416552"/>
            <a:ext cx="7406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Kriminalität, Zoll &amp; Versicherung erhöhen operative Kosten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6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CADCFC">
              <a:alpha val="14901"/>
            </a:srgbClr>
          </a:solidFill>
          <a:ln cap="flat" cmpd="sng" w="12700">
            <a:solidFill>
              <a:srgbClr val="CADCFC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48640" y="502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FAZIT &amp; EMPFEHLUNG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48640" y="96012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Magist ist nicht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die richtige Plattform!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2256155"/>
            <a:ext cx="77724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Die Daten zeigen eindeutig: Magist bedient ein Preissegment, das nicht zu unserem Portfolio passt.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Regionale Konzentration, langsame Lieferzeiten und ein falsches Kundenprofil 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machen Magist strukturell ungeeignet.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Externe Faktoren – Zoll, Kriminalität, Versicherung – verschlechtern die Wirtschaftlichkeit zusätzlich.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Empfehlung: Alternative Distributionskanäle prüfen – 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z.B. selektiver Direktvertrieb, eigener Online-Shop oder Amazon Brasilien.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48640" y="4709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Präsentation: WBS Data Science &amp; AI · Gruppe · Juni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10" title="6F11050A-E934-47C2-96C0-9C58D812DD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9448" y="190050"/>
            <a:ext cx="3497576" cy="23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af9ef51f0_0_2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eaf9ef51f0_0_2"/>
          <p:cNvSpPr/>
          <p:nvPr/>
        </p:nvSpPr>
        <p:spPr>
          <a:xfrm>
            <a:off x="457200" y="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zusätzlich zu 05  Operativer Aufwand – Working Capital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af9ef51f0_0_2"/>
          <p:cNvSpPr/>
          <p:nvPr/>
        </p:nvSpPr>
        <p:spPr>
          <a:xfrm>
            <a:off x="2635500" y="903450"/>
            <a:ext cx="43899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Summe Ratenzahlung (boleto) pro Jahr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g3eaf9ef51f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8400"/>
            <a:ext cx="6484901" cy="369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eaf9ef51f0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6400" y="2743375"/>
            <a:ext cx="2151325" cy="832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af9ef51f0_0_12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C2B6E"/>
          </a:solidFill>
          <a:ln cap="flat" cmpd="sng" w="12700">
            <a:solidFill>
              <a:srgbClr val="1C2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af9ef51f0_0_12"/>
          <p:cNvSpPr/>
          <p:nvPr/>
        </p:nvSpPr>
        <p:spPr>
          <a:xfrm>
            <a:off x="457200" y="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Quellenverweis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af9ef51f0_0_12"/>
          <p:cNvSpPr txBox="1"/>
          <p:nvPr/>
        </p:nvSpPr>
        <p:spPr>
          <a:xfrm>
            <a:off x="145925" y="1021375"/>
            <a:ext cx="86727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zu 6: 	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https://www.auswaertiges-amt.de/de/service/laender/brasilien-node/brasiliensicherheit-201092</a:t>
            </a:r>
            <a:r>
              <a:rPr lang="en-US"/>
              <a:t> </a:t>
            </a:r>
            <a:r>
              <a:rPr lang="en-US" sz="1000"/>
              <a:t>(letzter Zugriff: 11.06.2026 15:30 Uhr)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hlinkClick r:id="rId4"/>
              </a:rPr>
              <a:t>https://www.eda.admin.ch/countries/brazil/de/home/reisehinweise/vor-ort.html</a:t>
            </a:r>
            <a:r>
              <a:rPr lang="en-US"/>
              <a:t> </a:t>
            </a:r>
            <a:r>
              <a:rPr lang="en-US" sz="1000"/>
              <a:t>(</a:t>
            </a:r>
            <a:r>
              <a:rPr lang="en-US" sz="1000">
                <a:solidFill>
                  <a:schemeClr val="dk1"/>
                </a:solidFill>
              </a:rPr>
              <a:t>letzter Zugriff: 11.06.2026 15:30 Uhr)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Allgemein: WBS Coding School LMS Unterlagen </a:t>
            </a:r>
            <a:r>
              <a:rPr lang="en-US" sz="1000"/>
              <a:t>(</a:t>
            </a:r>
            <a:r>
              <a:rPr lang="en-US" sz="1000">
                <a:solidFill>
                  <a:schemeClr val="dk1"/>
                </a:solidFill>
              </a:rPr>
              <a:t>letzter Zugriff: 11.06.2026 15:30 Uhr)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Tableau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2026-06-10T15:25:49Z</dcterms:created>
  <dc:creator>PptxGenJS</dc:creator>
</cp:coreProperties>
</file>